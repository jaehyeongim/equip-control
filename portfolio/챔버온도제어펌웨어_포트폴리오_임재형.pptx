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173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A6FB0"/>
                </a:solidFill>
                <a:latin typeface="Helvetica Neue"/>
                <a:ea typeface="Apple SD Gothic Neo"/>
              </a:rPr>
              <a:t>임베디드 · 펌웨어 포트폴리오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95728"/>
            <a:ext cx="10817352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4213D"/>
                </a:solidFill>
                <a:latin typeface="Helvetica Neue"/>
                <a:ea typeface="Apple SD Gothic Neo"/>
              </a:rPr>
              <a:t>챔버 온도 제어 펌웨어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01568"/>
            <a:ext cx="1081735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B2B2B"/>
                </a:solidFill>
                <a:latin typeface="Helvetica Neue"/>
                <a:ea typeface="Apple SD Gothic Neo"/>
              </a:rPr>
              <a:t>STM32F446RE · FreeRTOS 기반 실시간 온도 제어 및 과온 보호 임베디드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069080"/>
            <a:ext cx="182880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108173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737373"/>
                </a:solidFill>
                <a:latin typeface="Helvetica Neue"/>
                <a:ea typeface="Apple SD Gothic Neo"/>
              </a:rPr>
              <a:t>지원 분야 :  전장(자동차 전장) · 방산 임베디드 / 펌웨어 (신입)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B2B"/>
                </a:solidFill>
                <a:latin typeface="Helvetica Neue"/>
                <a:ea typeface="Apple SD Gothic Neo"/>
              </a:rPr>
              <a:t>임재형 (JaeHyeong Im)    |    dlawogud517@gmail.com    |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A6FB0"/>
                </a:solidFill>
                <a:latin typeface="Helvetica Neue"/>
                <a:ea typeface="Apple SD Gothic Neo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Helvetica Neue"/>
                <a:ea typeface="Apple SD Gothic Neo"/>
              </a:rP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28016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10817352" cy="86868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STM32F446RE + FreeRTOS로 소형 챔버의 온도를 PI 제어하고,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과온·센서 이상 시 히터를 자동 차단하고 복구 인터락까지 수행하는 실시간 임베디드 펌웨어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606040"/>
          <a:ext cx="6400800" cy="2176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78000"/>
                <a:gridCol w="462280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  <a:ea typeface="Apple SD Gothic Neo"/>
                        </a:rPr>
                        <a:t>구분</a:t>
                      </a:r>
                    </a:p>
                  </a:txBody>
                  <a:tcPr anchor="ctr" marL="76200" marR="762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  <a:ea typeface="Apple SD Gothic Neo"/>
                        </a:rPr>
                        <a:t>내용</a:t>
                      </a:r>
                    </a:p>
                  </a:txBody>
                  <a:tcPr anchor="ctr" marL="76200" marR="76200" marT="25400" marB="25400"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MCU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STM32F446RE (ARM Cortex-M4F, 84MHz)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펌웨어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C  ·  STM32 HAL  ·  STM32CubeIDE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RTOS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FreeRTOS 10.3.1 (CMSIS-RTOS v2)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호스트 툴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Python 3 (UART 모니터 · CSV 로깅)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통신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UART 115200 8N1 (ST-LINK VCP)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계측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멀티미터 · 로직 애널라이저 · SWV/ITM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60920" y="2606040"/>
            <a:ext cx="4142232" cy="713232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Helvetica Neue"/>
                <a:ea typeface="Apple SD Gothic Neo"/>
              </a:rPr>
              <a:t>개인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670048"/>
            <a:ext cx="41422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FDCEC"/>
                </a:solidFill>
                <a:latin typeface="Helvetica Neue"/>
                <a:ea typeface="Apple SD Gothic Neo"/>
              </a:rPr>
              <a:t>역할 · 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3520440"/>
            <a:ext cx="3867912" cy="2377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FW · HW · 호스트 툴  1인 개발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FreeRTOS 5-Task 실시간 구조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요구사항 19  ·  테스트 케이스 5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엔지니어링 문서 9종 작성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2단계 과온 보호 + 복구 인터락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02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챔버 온도 제어 펌웨어  ·  임베디드/펌웨어 포트폴리오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A6FB0"/>
                </a:solidFill>
                <a:latin typeface="Helvetica Neue"/>
                <a:ea typeface="Apple SD Gothic Neo"/>
              </a:rPr>
              <a:t>BACKGROUND &amp;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Helvetica Neue"/>
                <a:ea typeface="Apple SD Gothic Neo"/>
              </a:rPr>
              <a:t>개발 배경 &amp; 목표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28016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1735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A6FB0"/>
                </a:solidFill>
                <a:latin typeface="Helvetica Neue"/>
                <a:ea typeface="Apple SD Gothic Neo"/>
              </a:rPr>
              <a:t>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817352" cy="1188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Helvetica Neue"/>
                <a:ea typeface="Apple SD Gothic Neo"/>
              </a:rPr>
              <a:t>•  임베디드 펌웨어 역량을 '코드'만이 아니라 요구사항 → 설계 → 구현 → 검증 전 과정으로 증명하고자 함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Helvetica Neue"/>
                <a:ea typeface="Apple SD Gothic Neo"/>
              </a:rPr>
              <a:t>•  시뮬레이션이 아닌 실제 하드웨어(센서·히터·전원)에서 동작·이상 상황·안전 설계를 직접 구현·검증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1081735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A6FB0"/>
                </a:solidFill>
                <a:latin typeface="Helvetica Neue"/>
                <a:ea typeface="Apple SD Gothic Neo"/>
              </a:rPr>
              <a:t>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817352" cy="1371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Helvetica Neue"/>
                <a:ea typeface="Apple SD Gothic Neo"/>
              </a:rPr>
              <a:t>•  RTOS 멀티태스킹 구조 설계 — 우선순위 기반 선점 스케줄링 + 자원별 동기화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Helvetica Neue"/>
                <a:ea typeface="Apple SD Gothic Neo"/>
              </a:rPr>
              <a:t>•  폐루프 온도 제어(PI) 안정화 및 결정론적 제어 주기 확보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Helvetica Neue"/>
                <a:ea typeface="Apple SD Gothic Neo"/>
              </a:rPr>
              <a:t>•  이상 상황(과온/센서오류) 자동 안전 동작 + 복구 조건 인터락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Helvetica Neue"/>
                <a:ea typeface="Apple SD Gothic Neo"/>
              </a:rPr>
              <a:t>•  V-model 기반 문서화 및 요구사항–설계–시험 추적성 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74920"/>
            <a:ext cx="10817352" cy="960120"/>
          </a:xfrm>
          <a:prstGeom prst="round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4213D"/>
                </a:solidFill>
                <a:latin typeface="Helvetica Neue"/>
                <a:ea typeface="Apple SD Gothic Neo"/>
              </a:rPr>
              <a:t>전장 · 방산 직무 연계 :  실시간성 · 결정론적 동작 · Fail-safe 안전 설계 · 엄격한 문서/검증 프로세스는</a:t>
            </a:r>
          </a:p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4213D"/>
                </a:solidFill>
                <a:latin typeface="Helvetica Neue"/>
                <a:ea typeface="Apple SD Gothic Neo"/>
              </a:rPr>
              <a:t>전장(자동차 전장)·방산 임베디드의 핵심 요구사항으로, 본 프로젝트가 그대로 대응하는 역량입니다.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챔버 온도 제어 펌웨어  ·  임베디드/펌웨어 포트폴리오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A6FB0"/>
                </a:solidFill>
                <a:latin typeface="Helvetica Neue"/>
                <a:ea typeface="Apple SD Gothic Neo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Helvetica Neue"/>
                <a:ea typeface="Apple SD Gothic Neo"/>
              </a:rPr>
              <a:t>시스템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28016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788920" cy="13716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2B2B2B"/>
                </a:solidFill>
                <a:latin typeface="Helvetica Neue"/>
                <a:ea typeface="Apple SD Gothic Neo"/>
              </a:rPr>
              <a:t>호스트 모니터</a:t>
            </a:r>
          </a:p>
          <a:p>
            <a:pPr algn="ctr">
              <a:lnSpc>
                <a:spcPct val="100000"/>
              </a:lnSpc>
            </a:pPr>
            <a:r>
              <a:rPr sz="1150">
                <a:solidFill>
                  <a:srgbClr val="2B2B2B"/>
                </a:solidFill>
                <a:latin typeface="Helvetica Neue"/>
                <a:ea typeface="Apple SD Gothic Neo"/>
              </a:rPr>
              <a:t>Python · macOS</a:t>
            </a:r>
          </a:p>
          <a:p>
            <a:pPr algn="ctr">
              <a:lnSpc>
                <a:spcPct val="100000"/>
              </a:lnSpc>
            </a:pPr>
            <a:r>
              <a:rPr sz="1150">
                <a:solidFill>
                  <a:srgbClr val="2B2B2B"/>
                </a:solidFill>
                <a:latin typeface="Helvetica Neue"/>
                <a:ea typeface="Apple SD Gothic Neo"/>
              </a:rPr>
              <a:t>UART 모니터링 · 명령</a:t>
            </a:r>
          </a:p>
          <a:p>
            <a:pPr algn="ctr">
              <a:lnSpc>
                <a:spcPct val="100000"/>
              </a:lnSpc>
            </a:pPr>
            <a:r>
              <a:rPr sz="1150">
                <a:solidFill>
                  <a:srgbClr val="2B2B2B"/>
                </a:solidFill>
                <a:latin typeface="Helvetica Neue"/>
                <a:ea typeface="Apple SD Gothic Neo"/>
              </a:rPr>
              <a:t>CSV 로깅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11880" y="2395728"/>
            <a:ext cx="1051560" cy="292608"/>
          </a:xfrm>
          <a:prstGeom prst="rightArrow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6432" y="19933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37373"/>
                </a:solidFill>
                <a:latin typeface="Helvetica Neue"/>
                <a:ea typeface="Apple SD Gothic Neo"/>
              </a:rPr>
              <a:t>UART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37373"/>
                </a:solidFill>
                <a:latin typeface="Helvetica Neue"/>
                <a:ea typeface="Apple SD Gothic Neo"/>
              </a:rPr>
              <a:t>115200 8N1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61488"/>
            <a:ext cx="1463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DATA/EVENT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ACK/NACK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965960"/>
            <a:ext cx="2880360" cy="137160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Helvetica Neue"/>
                <a:ea typeface="Apple SD Gothic Neo"/>
              </a:rPr>
              <a:t>펌웨어</a:t>
            </a:r>
          </a:p>
          <a:p>
            <a:pPr algn="ctr">
              <a:lnSpc>
                <a:spcPct val="100000"/>
              </a:lnSpc>
            </a:pPr>
            <a:r>
              <a:rPr sz="1150">
                <a:solidFill>
                  <a:srgbClr val="FFFFFF"/>
                </a:solidFill>
                <a:latin typeface="Helvetica Neue"/>
                <a:ea typeface="Apple SD Gothic Neo"/>
              </a:rPr>
              <a:t>STM32F446RE</a:t>
            </a:r>
          </a:p>
          <a:p>
            <a:pPr algn="ctr">
              <a:lnSpc>
                <a:spcPct val="100000"/>
              </a:lnSpc>
            </a:pPr>
            <a:r>
              <a:rPr sz="1150">
                <a:solidFill>
                  <a:srgbClr val="FFFFFF"/>
                </a:solidFill>
                <a:latin typeface="Helvetica Neue"/>
                <a:ea typeface="Apple SD Gothic Neo"/>
              </a:rPr>
              <a:t>C · FreeRTOS 5-Task</a:t>
            </a:r>
          </a:p>
          <a:p>
            <a:pPr algn="ctr">
              <a:lnSpc>
                <a:spcPct val="100000"/>
              </a:lnSpc>
            </a:pPr>
            <a:r>
              <a:rPr sz="1150">
                <a:solidFill>
                  <a:srgbClr val="FFFFFF"/>
                </a:solidFill>
                <a:latin typeface="Helvetica Neue"/>
                <a:ea typeface="Apple SD Gothic Neo"/>
              </a:rPr>
              <a:t>PI 제어 · 상태머신 · 알람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82127" y="2395728"/>
            <a:ext cx="731520" cy="292608"/>
          </a:xfrm>
          <a:prstGeom prst="rightArrow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32520" y="1783080"/>
            <a:ext cx="2770632" cy="566928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2B2B2B"/>
                </a:solidFill>
                <a:latin typeface="Helvetica Neue"/>
                <a:ea typeface="Apple SD Gothic Neo"/>
              </a:rPr>
              <a:t>DHT22  온도 센서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2B2B2B"/>
                </a:solidFill>
                <a:latin typeface="Helvetica Neue"/>
                <a:ea typeface="Apple SD Gothic Neo"/>
              </a:rPr>
              <a:t>1-Wire · 2s 주기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468880"/>
            <a:ext cx="2770632" cy="566928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2B2B2B"/>
                </a:solidFill>
                <a:latin typeface="Helvetica Neue"/>
                <a:ea typeface="Apple SD Gothic Neo"/>
              </a:rPr>
              <a:t>카프톤 히터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2B2B2B"/>
                </a:solidFill>
                <a:latin typeface="Helvetica Neue"/>
                <a:ea typeface="Apple SD Gothic Neo"/>
              </a:rPr>
              <a:t>MOSFET PWM 1kHz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3154680"/>
            <a:ext cx="2770632" cy="566928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2B2B2B"/>
                </a:solidFill>
                <a:latin typeface="Helvetica Neue"/>
                <a:ea typeface="Apple SD Gothic Neo"/>
              </a:rPr>
              <a:t>냉각 팬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2B2B2B"/>
                </a:solidFill>
                <a:latin typeface="Helvetica Neue"/>
                <a:ea typeface="Apple SD Gothic Neo"/>
              </a:rPr>
              <a:t>릴레이 ON/OFF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840480"/>
            <a:ext cx="2770632" cy="566928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2B2B2B"/>
                </a:solidFill>
                <a:latin typeface="Helvetica Neue"/>
                <a:ea typeface="Apple SD Gothic Neo"/>
              </a:rPr>
              <a:t>부저 · 상태 LED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2B2B2B"/>
                </a:solidFill>
                <a:latin typeface="Helvetica Neue"/>
                <a:ea typeface="Apple SD Gothic Neo"/>
              </a:rPr>
              <a:t>GPIO 패턴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77639"/>
            <a:ext cx="10817352" cy="21031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펌웨어는 센서 측정 → PI 제어 → 알람 판정 → 액추에이터 구동을 RTOS 태스크로 분리 처리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호스트 모니터(EC)는 1초 주기 12-field 텔레메트리를 수신해 상태·KPI·알람을 실시간 표시하고 CSV로 로깅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텍스트 기반 UART 프로토콜 — 명령(SET/START/STOP/RESET/STATUS)에 ACK/NACK로 응답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ST-LINK USB VCP 한 케이블로 펌웨어 플래시 · 디버그(SWV) · UART 통신 동시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04 /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챔버 온도 제어 펌웨어  ·  임베디드/펌웨어 포트폴리오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A6FB0"/>
                </a:solidFill>
                <a:latin typeface="Helvetica Neue"/>
                <a:ea typeface="Apple SD Gothic Neo"/>
              </a:rPr>
              <a:t>FIRMWARE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Helvetica Neue"/>
                <a:ea typeface="Apple SD Gothic Neo"/>
              </a:rPr>
              <a:t>펌웨어 아키텍처 — FreeRTOS 5-Task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28016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817352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4837"/>
                <a:gridCol w="2124837"/>
                <a:gridCol w="656767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  <a:ea typeface="Apple SD Gothic Neo"/>
                        </a:rPr>
                        <a:t>Task</a:t>
                      </a:r>
                    </a:p>
                  </a:txBody>
                  <a:tcPr anchor="ctr" marL="76200" marR="762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  <a:ea typeface="Apple SD Gothic Neo"/>
                        </a:rPr>
                        <a:t>우선순위</a:t>
                      </a:r>
                    </a:p>
                  </a:txBody>
                  <a:tcPr anchor="ctr" marL="76200" marR="762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  <a:ea typeface="Apple SD Gothic Neo"/>
                        </a:rPr>
                        <a:t>역할</a:t>
                      </a:r>
                    </a:p>
                  </a:txBody>
                  <a:tcPr anchor="ctr" marL="76200" marR="76200" marT="25400" marB="25400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UartRxTask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AboveNormal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명령 수신·파싱 (ISR Task Notification 기반)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ControlTask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AboveNormal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PI 제어 · KPI 산출 · 2단계 알람 판정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SensorTask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Normal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DHT22 측정 (µs 타이밍 임계구간 보호)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UartTxTask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Normal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TX 큐 직렬화 · 1초 주기 텔레메트리 송신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ActuatorTask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BelowNormal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부저 · LED 상태별 패턴 구동 (50ms)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977639"/>
            <a:ext cx="1081735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6FB0"/>
                </a:solidFill>
                <a:latin typeface="Helvetica Neue"/>
                <a:ea typeface="Apple SD Gothic Neo"/>
              </a:rPr>
              <a:t>태스크 간 동기화 (경쟁상태 구조적 제거)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89120"/>
            <a:ext cx="2587752" cy="105156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Helvetica Neue"/>
                <a:ea typeface="Apple SD Gothic Neo"/>
              </a:rPr>
              <a:t>Mutex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2B2B2B"/>
                </a:solidFill>
                <a:latin typeface="Helvetica Neue"/>
                <a:ea typeface="Apple SD Gothic Neo"/>
              </a:rPr>
              <a:t>공유 상태(g_state·온도·KPI)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2B2B2B"/>
                </a:solidFill>
                <a:latin typeface="Helvetica Neue"/>
                <a:ea typeface="Apple SD Gothic Neo"/>
              </a:rPr>
              <a:t>상호배제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389120"/>
            <a:ext cx="2587752" cy="105156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Helvetica Neue"/>
                <a:ea typeface="Apple SD Gothic Neo"/>
              </a:rPr>
              <a:t>Semaphore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2B2B2B"/>
                </a:solidFill>
                <a:latin typeface="Helvetica Neue"/>
                <a:ea typeface="Apple SD Gothic Neo"/>
              </a:rPr>
              <a:t>Sensor → Control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2B2B2B"/>
                </a:solidFill>
                <a:latin typeface="Helvetica Neue"/>
                <a:ea typeface="Apple SD Gothic Neo"/>
              </a:rPr>
              <a:t>측정완료 신호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389120"/>
            <a:ext cx="2587752" cy="105156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Helvetica Neue"/>
                <a:ea typeface="Apple SD Gothic Neo"/>
              </a:rPr>
              <a:t>Message Queue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2B2B2B"/>
                </a:solidFill>
                <a:latin typeface="Helvetica Neue"/>
                <a:ea typeface="Apple SD Gothic Neo"/>
              </a:rPr>
              <a:t>8×128B · TX 직렬화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2B2B2B"/>
                </a:solidFill>
                <a:latin typeface="Helvetica Neue"/>
                <a:ea typeface="Apple SD Gothic Neo"/>
              </a:rPr>
              <a:t>HAL 중복호출 방지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4389120"/>
            <a:ext cx="2587752" cy="105156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Helvetica Neue"/>
                <a:ea typeface="Apple SD Gothic Neo"/>
              </a:rPr>
              <a:t>Task Notification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2B2B2B"/>
                </a:solidFill>
                <a:latin typeface="Helvetica Neue"/>
                <a:ea typeface="Apple SD Gothic Neo"/>
              </a:rPr>
              <a:t>USART2 ISR → RxTask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2B2B2B"/>
                </a:solidFill>
                <a:latin typeface="Helvetica Neue"/>
                <a:ea typeface="Apple SD Gothic Neo"/>
              </a:rPr>
              <a:t>라인 완성 알림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1081735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213D"/>
                </a:solidFill>
                <a:latin typeface="Helvetica Neue"/>
                <a:ea typeface="Apple SD Gothic Neo"/>
              </a:rPr>
              <a:t>→ 우선순위 기반 선점 스케줄링으로 이상 대응 태스크를 우선 처리, 자원별 동기화 객체로 데이터 무결성 보장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05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챔버 온도 제어 펌웨어  ·  임베디드/펌웨어 포트폴리오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A6FB0"/>
                </a:solidFill>
                <a:latin typeface="Helvetica Neue"/>
                <a:ea typeface="Apple SD Gothic Neo"/>
              </a:rPr>
              <a:t>CLOSED-LOOP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Helvetica Neue"/>
                <a:ea typeface="Apple SD Gothic Neo"/>
              </a:rPr>
              <a:t>핵심 기능 ①  실시간 PI 온도 제어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28016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17352" cy="105156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</a:rPr>
              <a:t>e(t) = SP − T        I(t) = clamp( I(t−1) + e·dt ,  ±100 )        u(t) = clamp( Kp·e + Ki·I ,  0 ~ 1000 )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5486400" cy="3108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4213D"/>
                </a:solidFill>
                <a:latin typeface="Helvetica Neue"/>
                <a:ea typeface="Apple SD Gothic Neo"/>
              </a:rPr>
              <a:t>•  게인 Kp=200, Ki=2, Kd=0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Apple SD Gothic Neo"/>
              </a:rPr>
              <a:t>–  D항은 DHT22 측정 잡음의 미분 킥 방지를 위해 비활성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4213D"/>
                </a:solidFill>
                <a:latin typeface="Helvetica Neue"/>
                <a:ea typeface="Apple SD Gothic Neo"/>
              </a:rPr>
              <a:t>•  출력 u(t) → TIM3_CH3 1kHz PWM (Compare 0~1000)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Apple SD Gothic Neo"/>
              </a:rPr>
              <a:t>–  Duty 0~100%로 카프톤 히터 전력 제어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4213D"/>
                </a:solidFill>
                <a:latin typeface="Helvetica Neue"/>
                <a:ea typeface="Apple SD Gothic Neo"/>
              </a:rPr>
              <a:t>•  Anti-windup : 적분항 ±100 클램프로 폭주 방지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4213D"/>
                </a:solidFill>
                <a:latin typeface="Helvetica Neue"/>
                <a:ea typeface="Apple SD Gothic Neo"/>
              </a:rPr>
              <a:t>•  측정 동기 제어 : DHT22 완료(~2s)에 동기화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Apple SD Gothic Neo"/>
              </a:rPr>
              <a:t>–  세마포어로 Sensor→Control 연동 → 결정론적 갱신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788920"/>
            <a:ext cx="5056632" cy="13716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4213D"/>
                </a:solidFill>
                <a:latin typeface="Helvetica Neue"/>
                <a:ea typeface="Apple SD Gothic Neo"/>
              </a:rPr>
              <a:t>검증 기준 (KPI)</a:t>
            </a:r>
          </a:p>
          <a:p>
            <a:pPr algn="ctr">
              <a:lnSpc>
                <a:spcPct val="100000"/>
              </a:lnSpc>
            </a:pPr>
            <a:r>
              <a:rPr sz="1400">
                <a:solidFill>
                  <a:srgbClr val="14213D"/>
                </a:solidFill>
                <a:latin typeface="Helvetica Neue"/>
                <a:ea typeface="Apple SD Gothic Neo"/>
              </a:rPr>
              <a:t>정상상태 온도 오차</a:t>
            </a:r>
          </a:p>
          <a:p>
            <a:pPr algn="ctr">
              <a:lnSpc>
                <a:spcPct val="100000"/>
              </a:lnSpc>
            </a:pPr>
            <a:r>
              <a:rPr sz="1400">
                <a:solidFill>
                  <a:srgbClr val="14213D"/>
                </a:solidFill>
                <a:latin typeface="Helvetica Neue"/>
                <a:ea typeface="Apple SD Gothic Neo"/>
              </a:rPr>
              <a:t>SP ± 1°C 이내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4343400"/>
            <a:ext cx="5056632" cy="1554480"/>
          </a:xfrm>
          <a:prstGeom prst="round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450" b="1">
                <a:solidFill>
                  <a:srgbClr val="14213D"/>
                </a:solidFill>
                <a:latin typeface="Helvetica Neue"/>
                <a:ea typeface="Apple SD Gothic Neo"/>
              </a:rPr>
              <a:t>안전 연동</a:t>
            </a:r>
          </a:p>
          <a:p>
            <a:pPr algn="ctr">
              <a:lnSpc>
                <a:spcPct val="100000"/>
              </a:lnSpc>
            </a:pPr>
            <a:r>
              <a:rPr sz="1250">
                <a:solidFill>
                  <a:srgbClr val="14213D"/>
                </a:solidFill>
                <a:latin typeface="Helvetica Neue"/>
                <a:ea typeface="Apple SD Gothic Neo"/>
              </a:rPr>
              <a:t>ALARM 진입 시 히터 출력 즉시 0%,</a:t>
            </a:r>
          </a:p>
          <a:p>
            <a:pPr algn="ctr">
              <a:lnSpc>
                <a:spcPct val="100000"/>
              </a:lnSpc>
            </a:pPr>
            <a:r>
              <a:rPr sz="1250">
                <a:solidFill>
                  <a:srgbClr val="14213D"/>
                </a:solidFill>
                <a:latin typeface="Helvetica Neue"/>
                <a:ea typeface="Apple SD Gothic Neo"/>
              </a:rPr>
              <a:t>적분항 초기화 → 가열 폭주 차단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06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챔버 온도 제어 펌웨어  ·  임베디드/펌웨어 포트폴리오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A6FB0"/>
                </a:solidFill>
                <a:latin typeface="Helvetica Neue"/>
                <a:ea typeface="Apple SD Gothic Neo"/>
              </a:rPr>
              <a:t>STATE MACHINE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Helvetica Neue"/>
                <a:ea typeface="Apple SD Gothic Neo"/>
              </a:rPr>
              <a:t>핵심 기능 ②  상태머신 &amp; 2단계 과온 보호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28016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874519" cy="77724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  <a:latin typeface="Helvetica Neue"/>
                <a:ea typeface="Apple SD Gothic Neo"/>
              </a:rPr>
              <a:t>IDLE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78607" y="1810512"/>
            <a:ext cx="502920" cy="274320"/>
          </a:xfrm>
          <a:prstGeom prst="rightArrow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7247" y="1554480"/>
            <a:ext cx="1874519" cy="777240"/>
          </a:xfrm>
          <a:prstGeom prst="round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</a:rPr>
              <a:t>HEATING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20054" y="1810512"/>
            <a:ext cx="502920" cy="274320"/>
          </a:xfrm>
          <a:prstGeom prst="rightArrow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68694" y="1554480"/>
            <a:ext cx="1874519" cy="777240"/>
          </a:xfrm>
          <a:prstGeom prst="round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</a:rPr>
              <a:t>WARNING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61501" y="1810512"/>
            <a:ext cx="502920" cy="274320"/>
          </a:xfrm>
          <a:prstGeom prst="rightArrow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10141" y="1554480"/>
            <a:ext cx="1874519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</a:rPr>
              <a:t>ALARM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95728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        START                     과온 +1°C / 5s              +2°C / 10s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880360"/>
          <a:ext cx="1081735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68023"/>
                <a:gridCol w="2386180"/>
                <a:gridCol w="3976967"/>
                <a:gridCol w="23861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  <a:ea typeface="Apple SD Gothic Neo"/>
                        </a:rPr>
                        <a:t>단계</a:t>
                      </a:r>
                    </a:p>
                  </a:txBody>
                  <a:tcPr anchor="ctr" marL="76200" marR="762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  <a:ea typeface="Apple SD Gothic Neo"/>
                        </a:rPr>
                        <a:t>발생 조건</a:t>
                      </a:r>
                    </a:p>
                  </a:txBody>
                  <a:tcPr anchor="ctr" marL="76200" marR="762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  <a:ea typeface="Apple SD Gothic Neo"/>
                        </a:rPr>
                        <a:t>펌웨어 자동 동작</a:t>
                      </a:r>
                    </a:p>
                  </a:txBody>
                  <a:tcPr anchor="ctr" marL="76200" marR="76200" marT="25400" marB="254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  <a:ea typeface="Apple SD Gothic Neo"/>
                        </a:rPr>
                        <a:t>복구</a:t>
                      </a:r>
                    </a:p>
                  </a:txBody>
                  <a:tcPr anchor="ctr" marL="76200" marR="76200" marT="25400" marB="25400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WARNING (ALM-01)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T &gt; SP+1°C, 5s 지속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팬 ON · 부저 간헐 · 제어 유지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온도 복귀 시 자동 해제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ALARM (ALM-02)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T &gt; SP+2°C, 10s 지속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히터 즉시 OFF · 팬 ON · 부저 연속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RESET (조건 충족 시)</a:t>
                      </a:r>
                    </a:p>
                  </a:txBody>
                  <a:tcPr anchor="ctr" marL="76200" marR="76200" marT="25400" marB="25400">
                    <a:solidFill>
                      <a:srgbClr val="ECEF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SENSOR (ALM-03)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DHT22 3회 연속 실패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히터 OFF · ALARM 진입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B2B2B"/>
                          </a:solidFill>
                          <a:latin typeface="Helvetica Neue"/>
                          <a:ea typeface="Apple SD Gothic Neo"/>
                        </a:rPr>
                        <a:t>센서 복구 후 RESET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4892040"/>
            <a:ext cx="10817352" cy="1371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4213D"/>
                </a:solidFill>
                <a:latin typeface="Helvetica Neue"/>
                <a:ea typeface="Apple SD Gothic Neo"/>
              </a:rPr>
              <a:t>•  복구 인터락 : ALARM 해제는 온도 ≤ SP−2°C 충족 시에만 허용, 미충족 시 NACK 반환 → 무리한 재가동 차단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4213D"/>
                </a:solidFill>
                <a:latin typeface="Helvetica Neue"/>
                <a:ea typeface="Apple SD Gothic Neo"/>
              </a:rPr>
              <a:t>•  HW Fail-safe : MOSFET 게이트 풀다운(10kΩ)으로 MCU 리셋·High-Z 구간에도 히터 OFF 보장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Helvetica Neue"/>
                <a:ea typeface="Apple SD Gothic Neo"/>
              </a:rPr>
              <a:t>•  → 2단계 보호 · 인터락 · Fail-safe = 방산/전장 Functional Safety 설계 사고방식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07 /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챔버 온도 제어 펌웨어  ·  임베디드/펌웨어 포트폴리오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A6FB0"/>
                </a:solidFill>
                <a:latin typeface="Helvetica Neue"/>
                <a:ea typeface="Apple SD Gothic Neo"/>
              </a:rPr>
              <a:t>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Helvetica Neue"/>
                <a:ea typeface="Apple SD Gothic Neo"/>
              </a:rPr>
              <a:t>문제 해결 사례 — 근본원인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28016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49240" cy="1078992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4213D"/>
                </a:solidFill>
                <a:latin typeface="Helvetica Neue"/>
                <a:ea typeface="Apple SD Gothic Neo"/>
              </a:rPr>
              <a:t>DHT22 µs 타이밍 깨짐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A6FB0"/>
                </a:solidFill>
                <a:latin typeface="Helvetica Neue"/>
                <a:ea typeface="Apple SD Gothic Neo"/>
              </a:rPr>
              <a:t>현상  </a:t>
            </a:r>
            <a:r>
              <a:rPr sz="1100">
                <a:solidFill>
                  <a:srgbClr val="737373"/>
                </a:solidFill>
                <a:latin typeface="Helvetica Neue"/>
                <a:ea typeface="Apple SD Gothic Neo"/>
              </a:rPr>
              <a:t>RTOS 태스크 선점으로 1-Wire 비트 샘플링 붕괴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A6FB0"/>
                </a:solidFill>
                <a:latin typeface="Helvetica Neue"/>
                <a:ea typeface="Apple SD Gothic Neo"/>
              </a:rPr>
              <a:t>해결  </a:t>
            </a:r>
            <a:r>
              <a:rPr sz="1100">
                <a:solidFill>
                  <a:srgbClr val="2B2B2B"/>
                </a:solidFill>
                <a:latin typeface="Helvetica Neue"/>
                <a:ea typeface="Apple SD Gothic Neo"/>
              </a:rPr>
              <a:t>vTaskSuspendAll로 임계구간 보호, 인터럽트(Timebase·UART)는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1508760"/>
            <a:ext cx="5349240" cy="1078992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4213D"/>
                </a:solidFill>
                <a:latin typeface="Helvetica Neue"/>
                <a:ea typeface="Apple SD Gothic Neo"/>
              </a:rPr>
              <a:t>UART 송신 충돌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A6FB0"/>
                </a:solidFill>
                <a:latin typeface="Helvetica Neue"/>
                <a:ea typeface="Apple SD Gothic Neo"/>
              </a:rPr>
              <a:t>현상  </a:t>
            </a:r>
            <a:r>
              <a:rPr sz="1100">
                <a:solidFill>
                  <a:srgbClr val="737373"/>
                </a:solidFill>
                <a:latin typeface="Helvetica Neue"/>
                <a:ea typeface="Apple SD Gothic Neo"/>
              </a:rPr>
              <a:t>여러 태스크의 HAL_UART 중복 호출로 출력 깨짐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A6FB0"/>
                </a:solidFill>
                <a:latin typeface="Helvetica Neue"/>
                <a:ea typeface="Apple SD Gothic Neo"/>
              </a:rPr>
              <a:t>해결  </a:t>
            </a:r>
            <a:r>
              <a:rPr sz="1100">
                <a:solidFill>
                  <a:srgbClr val="2B2B2B"/>
                </a:solidFill>
                <a:latin typeface="Helvetica Neue"/>
                <a:ea typeface="Apple SD Gothic Neo"/>
              </a:rPr>
              <a:t>단일 TX 큐로 직렬화 — 이벤트 우선, 주기 DATA 후순위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97480"/>
            <a:ext cx="5349240" cy="1078992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4213D"/>
                </a:solidFill>
                <a:latin typeface="Helvetica Neue"/>
                <a:ea typeface="Apple SD Gothic Neo"/>
              </a:rPr>
              <a:t>MOSFET 미구동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A6FB0"/>
                </a:solidFill>
                <a:latin typeface="Helvetica Neue"/>
                <a:ea typeface="Apple SD Gothic Neo"/>
              </a:rPr>
              <a:t>현상  </a:t>
            </a:r>
            <a:r>
              <a:rPr sz="1100">
                <a:solidFill>
                  <a:srgbClr val="737373"/>
                </a:solidFill>
                <a:latin typeface="Helvetica Neue"/>
                <a:ea typeface="Apple SD Gothic Neo"/>
              </a:rPr>
              <a:t>IRF520(VGS(th)~4V)이 3.3V GPIO로 충분히 턴온 안 됨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A6FB0"/>
                </a:solidFill>
                <a:latin typeface="Helvetica Neue"/>
                <a:ea typeface="Apple SD Gothic Neo"/>
              </a:rPr>
              <a:t>해결  </a:t>
            </a:r>
            <a:r>
              <a:rPr sz="1100">
                <a:solidFill>
                  <a:srgbClr val="2B2B2B"/>
                </a:solidFill>
                <a:latin typeface="Helvetica Neue"/>
                <a:ea typeface="Apple SD Gothic Neo"/>
              </a:rPr>
              <a:t>분리 진단(팬/배선/소자)으로 원인 구분 → IRLZ44N(로직레벨) 재선정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2697480"/>
            <a:ext cx="5349240" cy="1078992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508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4213D"/>
                </a:solidFill>
                <a:latin typeface="Helvetica Neue"/>
                <a:ea typeface="Apple SD Gothic Neo"/>
              </a:rPr>
              <a:t>INA219 스파크·보드 손상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A6FB0"/>
                </a:solidFill>
                <a:latin typeface="Helvetica Neue"/>
                <a:ea typeface="Apple SD Gothic Neo"/>
              </a:rPr>
              <a:t>현상  </a:t>
            </a:r>
            <a:r>
              <a:rPr sz="1100">
                <a:solidFill>
                  <a:srgbClr val="737373"/>
                </a:solidFill>
                <a:latin typeface="Helvetica Neue"/>
                <a:ea typeface="Apple SD Gothic Neo"/>
              </a:rPr>
              <a:t>측정 중 프로브 오접촉으로 24V가 I2C 라인 단락 유입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A6FB0"/>
                </a:solidFill>
                <a:latin typeface="Helvetica Neue"/>
                <a:ea typeface="Apple SD Gothic Neo"/>
              </a:rPr>
              <a:t>해결  </a:t>
            </a:r>
            <a:r>
              <a:rPr sz="1100">
                <a:solidFill>
                  <a:srgbClr val="2B2B2B"/>
                </a:solidFill>
                <a:latin typeface="Helvetica Neue"/>
                <a:ea typeface="Apple SD Gothic Neo"/>
              </a:rPr>
              <a:t>근본원인(VIN-·SDA 브릿지) 분석 + 전류제한·후크프로브 재발방지 체크리스트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60520"/>
            <a:ext cx="1081735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Helvetica Neue"/>
                <a:ea typeface="Apple SD Gothic Neo"/>
              </a:rPr>
              <a:t>공통 접근 :  현상 → 가설 → 단계적 분리 검증 → 근본원인 확증 → 재발방지 도출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08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챔버 온도 제어 펌웨어  ·  임베디드/펌웨어 포트폴리오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A6FB0"/>
                </a:solidFill>
                <a:latin typeface="Helvetica Neue"/>
                <a:ea typeface="Apple SD Gothic Neo"/>
              </a:rPr>
              <a:t>RESULTS &amp;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Helvetica Neue"/>
                <a:ea typeface="Apple SD Gothic Neo"/>
              </a:rPr>
              <a:t>성과 &amp; KPI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28016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6FB0"/>
                </a:solidFill>
                <a:latin typeface="Helvetica Neue"/>
                <a:ea typeface="Apple SD Gothic Neo"/>
              </a:rPr>
              <a:t>구현 성과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532120" cy="3931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Helvetica Neue"/>
                <a:ea typeface="Apple SD Gothic Neo"/>
              </a:rPr>
              <a:t>•  FreeRTOS 5-Task 실시간 아키텍처 구현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2B2B2B"/>
                </a:solidFill>
                <a:latin typeface="Helvetica Neue"/>
                <a:ea typeface="Apple SD Gothic Neo"/>
              </a:rPr>
              <a:t>–  우선순위 선점 스케줄링 + 동기화 4종으로 경쟁상태 제거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Helvetica Neue"/>
                <a:ea typeface="Apple SD Gothic Neo"/>
              </a:rPr>
              <a:t>•  FreeRTOS Heap 8KB(8192B) 이내로 동작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Helvetica Neue"/>
                <a:ea typeface="Apple SD Gothic Neo"/>
              </a:rPr>
              <a:t>•  2단계 과온 보호 + 센서이상 검출 + 복구 인터락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Helvetica Neue"/>
                <a:ea typeface="Apple SD Gothic Neo"/>
              </a:rPr>
              <a:t>•  12-field UART 텔레메트리 · 호스트 실시간 모니터 · CSV 로깅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Helvetica Neue"/>
                <a:ea typeface="Apple SD Gothic Neo"/>
              </a:rPr>
              <a:t>•  요구사항 19 · 테스트 5 · 추적표 100% 매핑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Helvetica Neue"/>
                <a:ea typeface="Apple SD Gothic Neo"/>
              </a:rPr>
              <a:t>•  엔지니어링 문서 9종 (SRS/SDD/TPV/EFS/HDS/IO/AIM/TRG/SCN)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6FB0"/>
                </a:solidFill>
                <a:latin typeface="Helvetica Neue"/>
                <a:ea typeface="Apple SD Gothic Neo"/>
              </a:rPr>
              <a:t>정량 목표 / 검증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10512"/>
            <a:ext cx="2432304" cy="1170432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213D"/>
                </a:solidFill>
                <a:latin typeface="Helvetica Neue"/>
                <a:ea typeface="Apple SD Gothic Neo"/>
              </a:rPr>
              <a:t>± 1°C</a:t>
            </a:r>
          </a:p>
          <a:p>
            <a:pPr algn="ctr"/>
            <a:r>
              <a:rPr sz="1150">
                <a:solidFill>
                  <a:srgbClr val="2B2B2B"/>
                </a:solidFill>
                <a:latin typeface="Helvetica Neue"/>
                <a:ea typeface="Apple SD Gothic Neo"/>
              </a:rPr>
              <a:t>정상상태 온도 오차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3416" y="1810512"/>
            <a:ext cx="2432304" cy="1170432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213D"/>
                </a:solidFill>
                <a:latin typeface="Helvetica Neue"/>
                <a:ea typeface="Apple SD Gothic Neo"/>
              </a:rPr>
              <a:t>≤ 3 s</a:t>
            </a:r>
          </a:p>
          <a:p>
            <a:pPr algn="ctr"/>
            <a:r>
              <a:rPr sz="1150">
                <a:solidFill>
                  <a:srgbClr val="2B2B2B"/>
                </a:solidFill>
                <a:latin typeface="Helvetica Neue"/>
                <a:ea typeface="Apple SD Gothic Neo"/>
              </a:rPr>
              <a:t>과온 알람 자동 대응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163824"/>
            <a:ext cx="2432304" cy="1170432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213D"/>
                </a:solidFill>
                <a:latin typeface="Helvetica Neue"/>
                <a:ea typeface="Apple SD Gothic Neo"/>
              </a:rPr>
              <a:t>≤ 1 s</a:t>
            </a:r>
          </a:p>
          <a:p>
            <a:pPr algn="ctr"/>
            <a:r>
              <a:rPr sz="1150">
                <a:solidFill>
                  <a:srgbClr val="2B2B2B"/>
                </a:solidFill>
                <a:latin typeface="Helvetica Neue"/>
                <a:ea typeface="Apple SD Gothic Neo"/>
              </a:rPr>
              <a:t>명령 응답 (ACK/NACK)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3163824"/>
            <a:ext cx="2432304" cy="1170432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213D"/>
                </a:solidFill>
                <a:latin typeface="Helvetica Neue"/>
                <a:ea typeface="Apple SD Gothic Neo"/>
              </a:rPr>
              <a:t>~ 2 s</a:t>
            </a:r>
          </a:p>
          <a:p>
            <a:pPr algn="ctr"/>
            <a:r>
              <a:rPr sz="1150">
                <a:solidFill>
                  <a:srgbClr val="2B2B2B"/>
                </a:solidFill>
                <a:latin typeface="Helvetica Neue"/>
                <a:ea typeface="Apple SD Gothic Neo"/>
              </a:rPr>
              <a:t>측정 동기 제어 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108173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737373"/>
                </a:solidFill>
                <a:latin typeface="Helvetica Neue"/>
                <a:ea typeface="Apple SD Gothic Neo"/>
              </a:rPr>
              <a:t>※ 정량 항목은 요구사항·검증 기준값(acceptance criteria) 기준 — 실측값은 벤치 시험 결과로 보강 예정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09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챔버 온도 제어 펌웨어  ·  임베디드/펌웨어 포트폴리오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A6FB0"/>
                </a:solidFill>
                <a:latin typeface="Helvetica Neue"/>
                <a:ea typeface="Apple SD Gothic Neo"/>
              </a:rPr>
              <a:t>PROCESS &amp;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Helvetica Neue"/>
                <a:ea typeface="Apple SD Gothic Neo"/>
              </a:rPr>
              <a:t>개발 프로세스 &amp; 문서화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28016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2286000" cy="91440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Apple SD Gothic Neo"/>
              </a:rPr>
              <a:t>SRS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Helvetica Neue"/>
                <a:ea typeface="Apple SD Gothic Neo"/>
              </a:rPr>
              <a:t>요구사항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Helvetica Neue"/>
                <a:ea typeface="Apple SD Gothic Neo"/>
              </a:rPr>
              <a:t>명세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90088" y="1874519"/>
            <a:ext cx="384048" cy="274320"/>
          </a:xfrm>
          <a:prstGeom prst="rightArrow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8728" y="1554480"/>
            <a:ext cx="2286000" cy="9144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B2B2B"/>
                </a:solidFill>
                <a:latin typeface="Helvetica Neue"/>
                <a:ea typeface="Apple SD Gothic Neo"/>
              </a:rPr>
              <a:t>SDD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2B2B2B"/>
                </a:solidFill>
                <a:latin typeface="Helvetica Neue"/>
                <a:ea typeface="Apple SD Gothic Neo"/>
              </a:rPr>
              <a:t>소프트웨어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2B2B2B"/>
                </a:solidFill>
                <a:latin typeface="Helvetica Neue"/>
                <a:ea typeface="Apple SD Gothic Neo"/>
              </a:rPr>
              <a:t>설계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43016" y="1874519"/>
            <a:ext cx="384048" cy="274320"/>
          </a:xfrm>
          <a:prstGeom prst="rightArrow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91656" y="1554480"/>
            <a:ext cx="2286000" cy="91440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B2B2B"/>
                </a:solidFill>
                <a:latin typeface="Helvetica Neue"/>
                <a:ea typeface="Apple SD Gothic Neo"/>
              </a:rPr>
              <a:t>구현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2B2B2B"/>
                </a:solidFill>
                <a:latin typeface="Helvetica Neue"/>
                <a:ea typeface="Apple SD Gothic Neo"/>
              </a:rPr>
              <a:t>C · FreeRTOS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95944" y="1874519"/>
            <a:ext cx="384048" cy="274320"/>
          </a:xfrm>
          <a:prstGeom prst="rightArrow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44584" y="1554480"/>
            <a:ext cx="2286000" cy="91440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Apple SD Gothic Neo"/>
              </a:rPr>
              <a:t>TPV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Helvetica Neue"/>
                <a:ea typeface="Apple SD Gothic Neo"/>
              </a:rPr>
              <a:t>테스트 ·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10817352" cy="18288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V-model : 요구사항(SRS) → 설계(SDD) → 구현 → 검증(TPV)을 문서로 연결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요구사항–설계–시험 추적표 : REQ ↔ SDD 설계근거 ↔ TC 검증항목 100% 매핑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Alarm/Interlock Matrix(AIM)로 이상 상황별 자동 대응·복구 조건 정의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2B2B2B"/>
                </a:solidFill>
                <a:latin typeface="Helvetica Neue"/>
                <a:ea typeface="Apple SD Gothic Neo"/>
              </a:rPr>
              <a:t>•  이상 처리·복구 가이드(TRG), 과온 보호 검증 시나리오(SCN)로 동작·검증 절차 문서화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074920"/>
            <a:ext cx="10817352" cy="914400"/>
          </a:xfrm>
          <a:prstGeom prst="round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4213D"/>
                </a:solidFill>
                <a:latin typeface="Helvetica Neue"/>
                <a:ea typeface="Apple SD Gothic Neo"/>
              </a:rPr>
              <a:t>엔지니어링 문서 9종 :  SRS · SDD · TPV · EFS · HDS · IO · AIM · TRG · SCN</a:t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4213D"/>
                </a:solidFill>
                <a:latin typeface="Helvetica Neue"/>
                <a:ea typeface="Apple SD Gothic Neo"/>
              </a:rPr>
              <a:t>→ 형상관리(Git)와 요구사항·검증 추적성을 중시하는 방산/전장 개발 프로세스에 부합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10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챔버 온도 제어 펌웨어  ·  임베디드/펌웨어 포트폴리오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A6FB0"/>
                </a:solidFill>
                <a:latin typeface="Helvetica Neue"/>
                <a:ea typeface="Apple SD Gothic Neo"/>
              </a:rPr>
              <a:t>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Helvetica Neue"/>
                <a:ea typeface="Apple SD Gothic Neo"/>
              </a:rPr>
              <a:t>기술 역량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28016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74720" cy="214884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508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언어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C (펌웨어)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Python (호스트 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554480"/>
            <a:ext cx="3474720" cy="214884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508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MCU / RTOS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STM32 HAL · CubeIDE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FreeRTOS (CMSIS-RTOS v2)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인터럽트 · 타이머/PWM · UART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7576" y="1554480"/>
            <a:ext cx="3474720" cy="214884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508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제어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PI 제어 · Anti-windup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센서 타이밍/동기 처리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31920"/>
            <a:ext cx="3474720" cy="214884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508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하드웨어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MOSFET 구동 · 릴레이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DC-DC 전원 · 회로 브링업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부품 선정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3931920"/>
            <a:ext cx="3474720" cy="214884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508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계측 / 디버깅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멀티미터 · 로직 애널라이저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SWV/ITM 트레이스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단계적 분리 진단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7576" y="3931920"/>
            <a:ext cx="3474720" cy="2148840"/>
          </a:xfrm>
          <a:prstGeom prst="round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508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프로세스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요구사항·설계·검증 문서화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>
                <a:solidFill>
                  <a:srgbClr val="2B2B2B"/>
                </a:solidFill>
                <a:latin typeface="Helvetica Neue"/>
                <a:ea typeface="Apple SD Gothic Neo"/>
              </a:rPr>
              <a:t>•  Git 형상관리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11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챔버 온도 제어 펌웨어  ·  임베디드/펌웨어 포트폴리오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A6FB0"/>
                </a:solidFill>
                <a:latin typeface="Helvetica Neue"/>
                <a:ea typeface="Apple SD Gothic Neo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Helvetica Neue"/>
                <a:ea typeface="Apple SD Gothic Neo"/>
              </a:rPr>
              <a:t>직무 연계 &amp; 마무리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1280160" cy="3810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8173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A6FB0"/>
                </a:solidFill>
                <a:latin typeface="Helvetica Neue"/>
                <a:ea typeface="Apple SD Gothic Neo"/>
              </a:rPr>
              <a:t>이 프로젝트로 증명한 역량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10817352" cy="2377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•  실시간 · 결정론적 펌웨어 설계 — RTOS 멀티태스킹 · 우선순위 · 동기화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•  안전 · 이상처리 설계 — Fail-safe · 복구 인터락 · 2단계 과온 보호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•  HW까지 아우르는 브링업 · 디버깅 · 근본원인 분석 역량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  <a:latin typeface="Helvetica Neue"/>
                <a:ea typeface="Apple SD Gothic Neo"/>
              </a:rPr>
              <a:t>•  요구사항 → 설계 → 검증 문서화와 추적성 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160520"/>
            <a:ext cx="10817352" cy="105156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</a:rPr>
              <a:t>실시간성 · Fail-safe 안전 설계 · 엄격한 문서/검증 프로세스를 갖춘 펌웨어 엔지니어로서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</a:rPr>
              <a:t>전장 · 방산 임베디드 시스템 개발에 기여하겠습니다.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15000"/>
            <a:ext cx="1081735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B2B"/>
                </a:solidFill>
                <a:latin typeface="Helvetica Neue"/>
                <a:ea typeface="Apple SD Gothic Neo"/>
              </a:rPr>
              <a:t>임재형 (JaeHyeong Im)     |     dlawogud517@gmail.com     |     GitHub : github.com/(your-id)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37373"/>
                </a:solidFill>
                <a:latin typeface="Helvetica Neue"/>
                <a:ea typeface="Apple SD Gothic Neo"/>
              </a:rPr>
              <a:t>챔버 온도 제어 펌웨어  ·  임베디드/펌웨어 포트폴리오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